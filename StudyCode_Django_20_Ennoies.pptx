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ptos Display"/>
              </a:defRPr>
            </a:pPr>
            <a:r>
              <a:t>1. Η μεγάλη εικόνα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164592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2563EB"/>
                </a:solidFill>
                <a:latin typeface="Aptos"/>
              </a:defRPr>
            </a:pPr>
            <a:r>
              <a:t>StudyCode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10835640" cy="388620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1014984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Aptos"/>
              </a:defRPr>
            </a:pPr>
            <a:r>
              <a:t>• Η βασική ροή μιας Django εφαρμογής: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Aptos"/>
              </a:defRPr>
            </a:pPr>
            <a:r>
              <a:t>• Χρήστης → Browser → URL → urls.py → View → Model/Database → View → Template → HTML → Browser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Aptos"/>
              </a:defRPr>
            </a:pPr>
            <a:r>
              <a:t>• Το URL βρίσκει το σωστό view, το view διαβάζει/γράφει δεδομένα και το template δημιουργεί την τελική HTML.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5532120"/>
            <a:ext cx="10835640" cy="7498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5687568"/>
            <a:ext cx="10287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Κεντρική ιδέα: URL → View → Model/Database → Context → Template → Response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ptos Display"/>
              </a:defRPr>
            </a:pPr>
            <a:r>
              <a:t>2. Models - Τι αποθηκεύουμε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164592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2563EB"/>
                </a:solidFill>
                <a:latin typeface="Aptos"/>
              </a:defRPr>
            </a:pPr>
            <a:r>
              <a:t>StudyCode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10835640" cy="388620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1014984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Aptos"/>
              </a:defRPr>
            </a:pPr>
            <a:r>
              <a:t>• Τα models περιγράφουν τη δομή των δεδομένων της εφαρμογής.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Aptos"/>
              </a:defRPr>
            </a:pPr>
            <a:r>
              <a:t>• Στο StudyCode έχουμε Course, Lesson, Enrollment, LessonProgress, Quiz, Question, Choice και QuizAttempt.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Aptos"/>
              </a:defRPr>
            </a:pPr>
            <a:r>
              <a:t>• Οι σχέσεις ForeignKey και OneToOneField συνδέουν τα δεδομένα μεταξύ τους.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5532120"/>
            <a:ext cx="10835640" cy="7498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5687568"/>
            <a:ext cx="10287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Παράδειγμα: ένα Course έχει πολλά Lessons, ενώ κάθε Lesson ανήκει σε ένα Course.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ptos Display"/>
              </a:defRPr>
            </a:pPr>
            <a:r>
              <a:t>3. URLs - Ο χάρτης της εφαρμογής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164592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2563EB"/>
                </a:solidFill>
                <a:latin typeface="Aptos"/>
              </a:defRPr>
            </a:pPr>
            <a:r>
              <a:t>StudyCode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10835640" cy="388620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1014984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Aptos"/>
              </a:defRPr>
            </a:pPr>
            <a:r>
              <a:t>• Το urls.py αποφασίζει ποιο view θα εκτελεστεί για κάθε διεύθυνση.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Aptos"/>
              </a:defRPr>
            </a:pPr>
            <a:r>
              <a:t>• Τα δυναμικά τμήματα, όπως &lt;slug:slug&gt;, περνούν τιμές στο view.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Aptos"/>
              </a:defRPr>
            </a:pPr>
            <a:r>
              <a:t>• Στα templates χρησιμοποιούμε το {% url %} ώστε να μη γράφουμε URLs χειροκίνητα.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5532120"/>
            <a:ext cx="10835640" cy="7498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5687568"/>
            <a:ext cx="10287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Παράδειγμα: /courses/python/ → course_detail(request, slug='python')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ptos Display"/>
              </a:defRPr>
            </a:pPr>
            <a:r>
              <a:t>4. Views - Η λογική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164592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2563EB"/>
                </a:solidFill>
                <a:latin typeface="Aptos"/>
              </a:defRPr>
            </a:pPr>
            <a:r>
              <a:t>StudyCode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10835640" cy="388620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1014984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Aptos"/>
              </a:defRPr>
            </a:pPr>
            <a:r>
              <a:t>• Τα views είναι ο σύνδεσμος ανάμεσα στο request, τη βάση δεδομένων και το template.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Aptos"/>
              </a:defRPr>
            </a:pPr>
            <a:r>
              <a:t>• Μπορούν να αναζητήσουν αντικείμενα, να ελέγξουν δικαιώματα, να επεξεργαστούν POST δεδομένα και να κάνουν redirect.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Aptos"/>
              </a:defRPr>
            </a:pPr>
            <a:r>
              <a:t>• Με render() στέλνουν context σε ένα template.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5532120"/>
            <a:ext cx="10835640" cy="7498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5687568"/>
            <a:ext cx="10287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Το view είναι ο βασικός «εγκέφαλος» της ροής ενός request.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ptos Display"/>
              </a:defRPr>
            </a:pPr>
            <a:r>
              <a:t>5. Templates - Τι βλέπει ο χρήστης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164592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2563EB"/>
                </a:solidFill>
                <a:latin typeface="Aptos"/>
              </a:defRPr>
            </a:pPr>
            <a:r>
              <a:t>StudyCode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10835640" cy="388620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1014984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Aptos"/>
              </a:defRPr>
            </a:pPr>
            <a:r>
              <a:t>• Τα templates συνδυάζουν HTML με Django Template Language.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Aptos"/>
              </a:defRPr>
            </a:pPr>
            <a:r>
              <a:t>• Χρησιμοποιούμε {{ μεταβλητές }}, {% if %}, {% for %}, {% url %} και {% extends %}.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Aptos"/>
              </a:defRPr>
            </a:pPr>
            <a:r>
              <a:t>• Η κύρια business logic δεν πρέπει να βρίσκεται στα templates.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5532120"/>
            <a:ext cx="10835640" cy="7498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5687568"/>
            <a:ext cx="10287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Παράδειγμα: {{ course.title }} εμφανίζει τον τίτλο του Course.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ptos Display"/>
              </a:defRPr>
            </a:pPr>
            <a:r>
              <a:t>6. base.html - Ο κοινός σκελετός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164592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2563EB"/>
                </a:solidFill>
                <a:latin typeface="Aptos"/>
              </a:defRPr>
            </a:pPr>
            <a:r>
              <a:t>StudyCode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10835640" cy="388620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1014984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Aptos"/>
              </a:defRPr>
            </a:pPr>
            <a:r>
              <a:t>• Το base.html περιέχει τα κοινά στοιχεία όλων των σελίδων.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Aptos"/>
              </a:defRPr>
            </a:pPr>
            <a:r>
              <a:t>• Navbar, CSS/Bootstrap, messages, footer και JavaScript γράφονται μία φορά.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Aptos"/>
              </a:defRPr>
            </a:pPr>
            <a:r>
              <a:t>• Τα υπόλοιπα templates κάνουν {% extends 'base.html' %} και συμπληρώνουν το {% block content %}.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5532120"/>
            <a:ext cx="10835640" cy="7498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5687568"/>
            <a:ext cx="10287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Κέρδος: λιγότερη επανάληψη και ενιαία εμφάνιση σε όλο το StudyCode.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ptos Display"/>
              </a:defRPr>
            </a:pPr>
            <a:r>
              <a:t>7. Authentication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164592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2563EB"/>
                </a:solidFill>
                <a:latin typeface="Aptos"/>
              </a:defRPr>
            </a:pPr>
            <a:r>
              <a:t>StudyCode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10835640" cy="388620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1014984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Aptos"/>
              </a:defRPr>
            </a:pPr>
            <a:r>
              <a:t>• Το Django authentication διαχειρίζεται χρήστες και sessions.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Aptos"/>
              </a:defRPr>
            </a:pPr>
            <a:r>
              <a:t>• Στο StudyCode έχουμε Register, Login, Logout και Password Reset.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Aptos"/>
              </a:defRPr>
            </a:pPr>
            <a:r>
              <a:t>• Με request.user και user.is_authenticated γνωρίζουμε ποιος χρήστης έχει συνδεθεί.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5532120"/>
            <a:ext cx="10835640" cy="7498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5687568"/>
            <a:ext cx="10287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Το authentication απαντά: «Ποιος είναι ο χρήστης;»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ptos Display"/>
              </a:defRPr>
            </a:pPr>
            <a:r>
              <a:t>8. Enrollment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164592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2563EB"/>
                </a:solidFill>
                <a:latin typeface="Aptos"/>
              </a:defRPr>
            </a:pPr>
            <a:r>
              <a:t>StudyCode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10835640" cy="388620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1014984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Aptos"/>
              </a:defRPr>
            </a:pPr>
            <a:r>
              <a:t>• Το Enrollment συνδέει έναν User με ένα Course.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Aptos"/>
              </a:defRPr>
            </a:pPr>
            <a:r>
              <a:t>• Με UniqueConstraint αποτρέπουμε διπλή εγγραφή του ίδιου χρήστη στο ίδιο μάθημα.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Aptos"/>
              </a:defRPr>
            </a:pPr>
            <a:r>
              <a:t>• Με .filter(...).exists() ελέγχουμε γρήγορα αν υπάρχει εγγραφή.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5532120"/>
            <a:ext cx="10835640" cy="7498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5687568"/>
            <a:ext cx="10287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User ← Enrollment → Course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ptos Display"/>
              </a:defRPr>
            </a:pPr>
            <a:r>
              <a:t>9. Permissions - Δικαιώματα πρόσβασης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164592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2563EB"/>
                </a:solidFill>
                <a:latin typeface="Aptos"/>
              </a:defRPr>
            </a:pPr>
            <a:r>
              <a:t>StudyCode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10835640" cy="388620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1014984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Aptos"/>
              </a:defRPr>
            </a:pPr>
            <a:r>
              <a:t>• Δεν αρκεί να κρύψουμε ένα κουμπί από το HTML.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Aptos"/>
              </a:defRPr>
            </a:pPr>
            <a:r>
              <a:t>• Με @login_required απαιτούμε σύνδεση και με Enrollment ελέγχουμε αν ο μαθητής δικαιούται πρόσβαση.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Aptos"/>
              </a:defRPr>
            </a:pPr>
            <a:r>
              <a:t>• Έτσι προστατεύουμε lesson, quiz και completion endpoints ακόμη και αν κάποιος γράψει το URL χειροκίνητα.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5532120"/>
            <a:ext cx="10835640" cy="7498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5687568"/>
            <a:ext cx="10287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Authentication = ποιος είσαι. Authorization = τι επιτρέπεται να κάνεις.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ptos Display"/>
              </a:defRPr>
            </a:pPr>
            <a:r>
              <a:t>10. Lesson Progress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164592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2563EB"/>
                </a:solidFill>
                <a:latin typeface="Aptos"/>
              </a:defRPr>
            </a:pPr>
            <a:r>
              <a:t>StudyCode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10835640" cy="388620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1014984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Aptos"/>
              </a:defRPr>
            </a:pPr>
            <a:r>
              <a:t>• Το LessonProgress αποθηκεύει την πρόοδο ανά χρήστη και lesson.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Aptos"/>
              </a:defRPr>
            </a:pPr>
            <a:r>
              <a:t>• Πεδία όπως completed, completed_at και last_accessed επιτρέπουν παρακολούθηση της μαθησιακής πορείας.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Aptos"/>
              </a:defRPr>
            </a:pPr>
            <a:r>
              <a:t>• Η πρόοδος αποθηκεύεται στη βάση και μπορεί να εμφανιστεί στο profile.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5532120"/>
            <a:ext cx="10835640" cy="7498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5687568"/>
            <a:ext cx="10287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User + Lesson → completed=True/False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ptos Display"/>
              </a:defRPr>
            </a:pPr>
            <a:r>
              <a:t>11. Quiz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164592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2563EB"/>
                </a:solidFill>
                <a:latin typeface="Aptos"/>
              </a:defRPr>
            </a:pPr>
            <a:r>
              <a:t>StudyCode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10835640" cy="388620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1014984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Aptos"/>
              </a:defRPr>
            </a:pPr>
            <a:r>
              <a:t>• Η δομή είναι Quiz → Question → Choice.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Aptos"/>
              </a:defRPr>
            </a:pPr>
            <a:r>
              <a:t>• Κάθε Choice έχει is_correct=True/False.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Aptos"/>
              </a:defRPr>
            </a:pPr>
            <a:r>
              <a:t>• Το POST του quiz περιέχει τις επιλογές του μαθητή και το view υπολογίζει score και percentage.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5532120"/>
            <a:ext cx="10835640" cy="7498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5687568"/>
            <a:ext cx="10287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Το quiz είναι παράδειγμα πλήρους ροής Form/POST → View → Database → Result.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ptos Display"/>
              </a:defRPr>
            </a:pPr>
            <a:r>
              <a:t>12. QuizAttempt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164592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2563EB"/>
                </a:solidFill>
                <a:latin typeface="Aptos"/>
              </a:defRPr>
            </a:pPr>
            <a:r>
              <a:t>StudyCode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10835640" cy="388620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1014984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Aptos"/>
              </a:defRPr>
            </a:pPr>
            <a:r>
              <a:t>• Το QuizAttempt κρατά ιστορικό των προσπαθειών του μαθητή.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Aptos"/>
              </a:defRPr>
            </a:pPr>
            <a:r>
              <a:t>• Αποθηκεύουμε user, quiz, score, total_questions, percentage και completed_at.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Aptos"/>
              </a:defRPr>
            </a:pPr>
            <a:r>
              <a:t>• Έτσι η βαθμολογία δεν χάνεται μετά την εμφάνιση του αποτελέσματος.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5532120"/>
            <a:ext cx="10835640" cy="7498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5687568"/>
            <a:ext cx="10287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Το StudyCode μπορεί να εμφανίζει ιστορικό επιδόσεων και όχι μόνο το τελευταίο αποτέλεσμα.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ptos Display"/>
              </a:defRPr>
            </a:pPr>
            <a:r>
              <a:t>13. Student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164592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2563EB"/>
                </a:solidFill>
                <a:latin typeface="Aptos"/>
              </a:defRPr>
            </a:pPr>
            <a:r>
              <a:t>StudyCode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10835640" cy="388620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1014984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Aptos"/>
              </a:defRPr>
            </a:pPr>
            <a:r>
              <a:t>• Το profile συγκεντρώνει πληροφορίες από πολλά models.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Aptos"/>
              </a:defRPr>
            </a:pPr>
            <a:r>
              <a:t>• Enrollments, LessonProgress και QuizAttempts συνδυάζονται για να παρουσιάσουν την εικόνα του μαθητή.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Aptos"/>
              </a:defRPr>
            </a:pPr>
            <a:r>
              <a:t>• Δεν χρειάζεται να αντιγράφουμε δεδομένα σε νέο model όταν μπορούν να προκύψουν από τις υπάρχουσες σχέσεις.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5532120"/>
            <a:ext cx="10835640" cy="7498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5687568"/>
            <a:ext cx="10287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Το profile είναι ένα dashboard που διαβάζει τη συνολική κατάσταση του χρήστη.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ptos Display"/>
              </a:defRPr>
            </a:pPr>
            <a:r>
              <a:t>14. Django Messages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164592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2563EB"/>
                </a:solidFill>
                <a:latin typeface="Aptos"/>
              </a:defRPr>
            </a:pPr>
            <a:r>
              <a:t>StudyCode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10835640" cy="388620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1014984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Aptos"/>
              </a:defRPr>
            </a:pPr>
            <a:r>
              <a:t>• Το messages framework μεταφέρει προσωρινά μηνύματα από το backend στο επόμενο response.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Aptos"/>
              </a:defRPr>
            </a:pPr>
            <a:r>
              <a:t>• Χρησιμοποιούμε messages.success(), error(), warning() και info().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Aptos"/>
              </a:defRPr>
            </a:pPr>
            <a:r>
              <a:t>• Το base.html τα εμφανίζει κεντρικά με Bootstrap alerts.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5532120"/>
            <a:ext cx="10835640" cy="7498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5687568"/>
            <a:ext cx="10287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Παράδειγμα: «Η εγγραφή στο μάθημα ολοκληρώθηκε.»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ptos Display"/>
              </a:defRPr>
            </a:pPr>
            <a:r>
              <a:t>15. Automated Tests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164592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2563EB"/>
                </a:solidFill>
                <a:latin typeface="Aptos"/>
              </a:defRPr>
            </a:pPr>
            <a:r>
              <a:t>StudyCode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10835640" cy="388620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1014984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Aptos"/>
              </a:defRPr>
            </a:pPr>
            <a:r>
              <a:t>• Τα tests προσομοιώνουν πραγματικές ενέργειες χρηστών χωρίς χειροκίνητο έλεγχο.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Aptos"/>
              </a:defRPr>
            </a:pPr>
            <a:r>
              <a:t>• Ελέγχουμε register/login, enroll/unenroll, permissions, lesson completion, quiz scoring και αποθήκευση QuizAttempt.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Aptos"/>
              </a:defRPr>
            </a:pPr>
            <a:r>
              <a:t>• Η TestCase χρησιμοποιεί προσωρινή test database ώστε να μην επηρεάζονται τα πραγματικά δεδομένα.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5532120"/>
            <a:ext cx="10835640" cy="7498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5687568"/>
            <a:ext cx="10287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python manage.py test → γρήγορος έλεγχος ότι οι βασικές λειτουργίες συνεχίζουν να δουλεύουν.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ptos Display"/>
              </a:defRPr>
            </a:pPr>
            <a:r>
              <a:t>16. SQLite και PostgreSQL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164592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2563EB"/>
                </a:solidFill>
                <a:latin typeface="Aptos"/>
              </a:defRPr>
            </a:pPr>
            <a:r>
              <a:t>StudyCode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10835640" cy="388620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1014984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Aptos"/>
              </a:defRPr>
            </a:pPr>
            <a:r>
              <a:t>• SQLite: απλή τοπική βάση, ιδανική για development.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Aptos"/>
              </a:defRPr>
            </a:pPr>
            <a:r>
              <a:t>• PostgreSQL: κατάλληλη επιλογή για production και πολλαπλούς χρήστες.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Aptos"/>
              </a:defRPr>
            </a:pPr>
            <a:r>
              <a:t>• Το StudyCode κρατά SQLite τοπικά και ενεργοποιεί PostgreSQL όταν υπάρχει DATABASE_URL.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5532120"/>
            <a:ext cx="10835640" cy="7498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5687568"/>
            <a:ext cx="10287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Development → SQLite | Production → PostgreSQL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ptos Display"/>
              </a:defRPr>
            </a:pPr>
            <a:r>
              <a:t>17. Environment Variables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164592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2563EB"/>
                </a:solidFill>
                <a:latin typeface="Aptos"/>
              </a:defRPr>
            </a:pPr>
            <a:r>
              <a:t>StudyCode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10835640" cy="388620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1014984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Aptos"/>
              </a:defRPr>
            </a:pPr>
            <a:r>
              <a:t>• Secrets και production ρυθμίσεις δεν πρέπει να γράφονται μέσα στον κώδικα.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Aptos"/>
              </a:defRPr>
            </a:pPr>
            <a:r>
              <a:t>• Χρησιμοποιούμε os.environ για DJANGO_SECRET_KEY, DJANGO_DEBUG, ALLOWED_HOSTS, DATABASE_URL και email credentials.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Aptos"/>
              </a:defRPr>
            </a:pPr>
            <a:r>
              <a:t>• Έτσι ο ίδιος κώδικας λειτουργεί σε διαφορετικά environments χωρίς να εκθέτει μυστικά στο GitHub.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5532120"/>
            <a:ext cx="10835640" cy="7498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5687568"/>
            <a:ext cx="10287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GitHub = κώδικας | Azure environment = secrets/configuration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ptos Display"/>
              </a:defRPr>
            </a:pPr>
            <a:r>
              <a:t>18. GitHub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164592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2563EB"/>
                </a:solidFill>
                <a:latin typeface="Aptos"/>
              </a:defRPr>
            </a:pPr>
            <a:r>
              <a:t>StudyCode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10835640" cy="388620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1014984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Aptos"/>
              </a:defRPr>
            </a:pPr>
            <a:r>
              <a:t>• Το Git/GitHub παρέχει version control, ιστορικό αλλαγών, portfolio και πηγή deployment.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Aptos"/>
              </a:defRPr>
            </a:pPr>
            <a:r>
              <a:t>• Το .gitignore κρατά εκτός repository .env, .venv/, db.sqlite3, __pycache__/ και άλλα τοπικά αρχεία.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Aptos"/>
              </a:defRPr>
            </a:pPr>
            <a:r>
              <a:t>• Κάθε σημαντική αλλαγή αποθηκεύεται με commit.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5532120"/>
            <a:ext cx="10835640" cy="7498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5687568"/>
            <a:ext cx="10287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Το GitHub δεν είναι απλώς backup - είναι μέρος της development και deployment ροής.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ptos Display"/>
              </a:defRPr>
            </a:pPr>
            <a:r>
              <a:t>19. Azure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164592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2563EB"/>
                </a:solidFill>
                <a:latin typeface="Aptos"/>
              </a:defRPr>
            </a:pPr>
            <a:r>
              <a:t>StudyCode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10835640" cy="388620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1014984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Aptos"/>
              </a:defRPr>
            </a:pPr>
            <a:r>
              <a:t>• Στο production η εφαρμογή θα τρέχει σε Azure App Service με Gunicorn και Django.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Aptos"/>
              </a:defRPr>
            </a:pPr>
            <a:r>
              <a:t>• Η PostgreSQL θα λειτουργεί ως production database και τα environment variables θα ρυθμίζονται στο Azure.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Aptos"/>
              </a:defRPr>
            </a:pPr>
            <a:r>
              <a:t>• Το τελικό στάδιο περιλαμβάνει domain και HTTPS.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5532120"/>
            <a:ext cx="10835640" cy="7498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5687568"/>
            <a:ext cx="10287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Internet → HTTPS/Domain → Azure App Service → Gunicorn → Django → PostgreSQL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ptos Display"/>
              </a:defRPr>
            </a:pPr>
            <a:r>
              <a:t>20. Η ουσία του StudyCode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164592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2563EB"/>
                </a:solidFill>
                <a:latin typeface="Aptos"/>
              </a:defRPr>
            </a:pPr>
            <a:r>
              <a:t>StudyCode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10835640" cy="388620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1014984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Aptos"/>
              </a:defRPr>
            </a:pPr>
            <a:r>
              <a:t>• Το StudyCode είναι ολοκληρωμένη εκπαιδευτική Django εφαρμογή.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Aptos"/>
              </a:defRPr>
            </a:pPr>
            <a:r>
              <a:t>• Συνδυάζει authentication, courses/lessons, enrollments, progress, quizzes, profile, permissions, tests και production configuration.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Aptos"/>
              </a:defRPr>
            </a:pPr>
            <a:r>
              <a:t>• Η σημαντικότερη αλυσίδα που πρέπει να θυμάσαι είναι η ροή ενός request.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5532120"/>
            <a:ext cx="10835640" cy="7498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5687568"/>
            <a:ext cx="10287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URL → View → Model/Database → Context → Template → Response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